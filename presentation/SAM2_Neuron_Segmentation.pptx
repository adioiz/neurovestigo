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51976" y="1453896"/>
            <a:ext cx="1554480" cy="64008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8951976" y="1453896"/>
            <a:ext cx="548640" cy="173736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9500616" y="2093976"/>
            <a:ext cx="1005840" cy="109728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506456" y="2093976"/>
            <a:ext cx="1097280" cy="73152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9500616" y="3191256"/>
            <a:ext cx="1554480" cy="64008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1055096" y="2825496"/>
            <a:ext cx="548640" cy="100584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9134856" y="3191256"/>
            <a:ext cx="365760" cy="164592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689336" y="3831336"/>
            <a:ext cx="365760" cy="137160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134856" y="4837176"/>
            <a:ext cx="1554480" cy="365760"/>
          </a:xfrm>
          <a:prstGeom prst="line">
            <a:avLst/>
          </a:prstGeom>
          <a:noFill/>
          <a:ln w="19050">
            <a:solidFill>
              <a:srgbClr val="111B4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8869680" y="137160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759952" y="1261872"/>
            <a:ext cx="384048" cy="384048"/>
          </a:xfrm>
          <a:prstGeom prst="ellipse">
            <a:avLst/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0" y="2011680"/>
            <a:ext cx="164592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14432" y="1901952"/>
            <a:ext cx="384048" cy="384048"/>
          </a:xfrm>
          <a:prstGeom prst="ellipse">
            <a:avLst/>
          </a:prstGeom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310896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9308592" y="2999232"/>
            <a:ext cx="384048" cy="384048"/>
          </a:xfrm>
          <a:prstGeom prst="ellipse">
            <a:avLst/>
          </a:prstGeom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0" y="374904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63072" y="3639312"/>
            <a:ext cx="384048" cy="384048"/>
          </a:xfrm>
          <a:prstGeom prst="ellipse">
            <a:avLst/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4754880"/>
            <a:ext cx="164592" cy="16459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942832" y="4645152"/>
            <a:ext cx="384048" cy="384048"/>
          </a:xfrm>
          <a:prstGeom prst="ellipse">
            <a:avLst/>
          </a:prstGeom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512064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97312" y="5010912"/>
            <a:ext cx="384048" cy="384048"/>
          </a:xfrm>
          <a:prstGeom prst="ellipse">
            <a:avLst/>
          </a:prstGeom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21440" y="274320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11712" y="2633472"/>
            <a:ext cx="384048" cy="384048"/>
          </a:xfrm>
          <a:prstGeom prst="ellipse">
            <a:avLst/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777240" cy="7772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58368" y="2148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MASTER'S THESIS · COMPUTER VISION FOR MICROSCOPY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03504" y="2514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SAM 2 for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Neuron Segmentation</a:t>
            </a:r>
            <a:endParaRPr lang="en-US" sz="4600" dirty="0"/>
          </a:p>
        </p:txBody>
      </p:sp>
      <p:sp>
        <p:nvSpPr>
          <p:cNvPr id="28" name="Text 25"/>
          <p:cNvSpPr/>
          <p:nvPr/>
        </p:nvSpPr>
        <p:spPr>
          <a:xfrm>
            <a:off x="640080" y="4343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Parameter-efficient, topology-aware adaptation of a video foundation model for tracking thin, branching neurons in microscopy.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58368" y="5257800"/>
            <a:ext cx="384048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5394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 Oizerovich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validation IoU 0.8401 · Dice 0.9117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talk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109728" cy="960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91640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19659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468880" y="1801368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8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 problem and the human-in-the-loop labeling workflow.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02920" y="2807208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2807208"/>
            <a:ext cx="109728" cy="960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807208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08152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68880" y="2916936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napari labeling app</a:t>
            </a:r>
            <a:endParaRPr lang="en-US" sz="18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GUI scientists use to label and propagate masks.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502920" y="3922776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920" y="3922776"/>
            <a:ext cx="109728" cy="9601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3922776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4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419709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468880" y="4032504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model</a:t>
            </a:r>
            <a:endParaRPr lang="en-US" sz="18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math, the run-by-run journey, and why we beat base SAM 2.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0332720" y="4233672"/>
            <a:ext cx="1097280" cy="347472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MAIN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02920" y="5038344"/>
            <a:ext cx="11155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5038344"/>
            <a:ext cx="109728" cy="960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5" name="Text 20"/>
          <p:cNvSpPr/>
          <p:nvPr/>
        </p:nvSpPr>
        <p:spPr>
          <a:xfrm>
            <a:off x="777240" y="5038344"/>
            <a:ext cx="914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4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5312664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468880" y="5148072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stages</a:t>
            </a:r>
            <a:endParaRPr lang="en-US" sz="1800" dirty="0"/>
          </a:p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goes from here — more data is the next lever.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11B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0" y="2743200"/>
            <a:ext cx="20116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and the labeling loop that gives us training data.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segmenting neurons in microscopy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45920"/>
            <a:ext cx="55778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20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2514600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241401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Thin, branching morphology —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Dendrites and axons are 1–2 px wide and tree-like; a single pixel gap breaks a branch.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410712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331012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 —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Phase-contrast / fluorescence frames are noisy with weak edges and uneven illumination.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2960" y="4306824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42062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tracking —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neuron must be followed across many frames as it shifts and deforms.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5202936"/>
            <a:ext cx="118872" cy="118872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7" name="Text 14"/>
          <p:cNvSpPr/>
          <p:nvPr/>
        </p:nvSpPr>
        <p:spPr>
          <a:xfrm>
            <a:off x="1078992" y="510235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labeled datasets —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pixel-level masks are scarce — we work with ~20 annotated videos.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63640" y="1645920"/>
            <a:ext cx="5394960" cy="205740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53796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GOAL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37960" y="214884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turns a few clicks into accurate, connected, frame-to-frame neuron masks — fast enough to use interactively.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263640" y="3886200"/>
            <a:ext cx="5394960" cy="2240280"/>
          </a:xfrm>
          <a:prstGeom prst="rect">
            <a:avLst/>
          </a:prstGeom>
          <a:solidFill>
            <a:srgbClr val="EEF2FB"/>
          </a:solidFill>
          <a:ln w="15875">
            <a:solidFill>
              <a:srgbClr val="22D3EE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6355080" y="4754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Visual example: microscopy frame + neuron mask ]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human-in-the-loop labeling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effort is the bottleneck. The fine-tuned model does the heavy lifting; the scientist only corrects — and every correction becomes new training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423160"/>
            <a:ext cx="260604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43200"/>
            <a:ext cx="640080" cy="64008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278892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77240" y="39319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clicks / draws on one frame to mark a neuron.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18104" y="324612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</a:rPr>
              <a:t>›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3401568" y="242316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01568" y="2423160"/>
            <a:ext cx="260604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Shape 15"/>
          <p:cNvSpPr/>
          <p:nvPr/>
        </p:nvSpPr>
        <p:spPr>
          <a:xfrm>
            <a:off x="3675888" y="2743200"/>
            <a:ext cx="640080" cy="64008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19" name="Text 16"/>
          <p:cNvSpPr/>
          <p:nvPr/>
        </p:nvSpPr>
        <p:spPr>
          <a:xfrm>
            <a:off x="3675888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788920"/>
            <a:ext cx="502920" cy="5029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75888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3675888" y="39319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SAM 2 tracks the mask across all frames.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016752" y="324612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</a:rPr>
              <a:t>›</a:t>
            </a:r>
            <a:endParaRPr lang="en-US" sz="3000" dirty="0"/>
          </a:p>
        </p:txBody>
      </p:sp>
      <p:sp>
        <p:nvSpPr>
          <p:cNvPr id="24" name="Shape 20"/>
          <p:cNvSpPr/>
          <p:nvPr/>
        </p:nvSpPr>
        <p:spPr>
          <a:xfrm>
            <a:off x="6300216" y="242316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300216" y="2423160"/>
            <a:ext cx="2606040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Shape 22"/>
          <p:cNvSpPr/>
          <p:nvPr/>
        </p:nvSpPr>
        <p:spPr>
          <a:xfrm>
            <a:off x="6574536" y="2743200"/>
            <a:ext cx="640080" cy="64008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27" name="Text 23"/>
          <p:cNvSpPr/>
          <p:nvPr/>
        </p:nvSpPr>
        <p:spPr>
          <a:xfrm>
            <a:off x="6574536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6" y="278892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74536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6574536" y="39319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fixes the few frames the model got wrong.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915400" y="3246120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</a:rPr>
              <a:t>›</a:t>
            </a:r>
            <a:endParaRPr lang="en-US" sz="3000" dirty="0"/>
          </a:p>
        </p:txBody>
      </p:sp>
      <p:sp>
        <p:nvSpPr>
          <p:cNvPr id="32" name="Shape 27"/>
          <p:cNvSpPr/>
          <p:nvPr/>
        </p:nvSpPr>
        <p:spPr>
          <a:xfrm>
            <a:off x="9198864" y="2423160"/>
            <a:ext cx="26060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198864" y="2423160"/>
            <a:ext cx="2606040" cy="10972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4" name="Shape 29"/>
          <p:cNvSpPr/>
          <p:nvPr/>
        </p:nvSpPr>
        <p:spPr>
          <a:xfrm>
            <a:off x="9473184" y="2743200"/>
            <a:ext cx="640080" cy="64008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35" name="Text 30"/>
          <p:cNvSpPr/>
          <p:nvPr/>
        </p:nvSpPr>
        <p:spPr>
          <a:xfrm>
            <a:off x="9473184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2788920"/>
            <a:ext cx="502920" cy="5029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473184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</a:t>
            </a:r>
            <a:endParaRPr lang="en-US" sz="1700" dirty="0"/>
          </a:p>
        </p:txBody>
      </p:sp>
      <p:sp>
        <p:nvSpPr>
          <p:cNvPr id="38" name="Text 32"/>
          <p:cNvSpPr/>
          <p:nvPr/>
        </p:nvSpPr>
        <p:spPr>
          <a:xfrm>
            <a:off x="9473184" y="393192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masks feed back into the dataset → better model.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502920" y="5212080"/>
            <a:ext cx="11155680" cy="658368"/>
          </a:xfrm>
          <a:prstGeom prst="rect">
            <a:avLst/>
          </a:prstGeom>
          <a:solidFill>
            <a:srgbClr val="0A1230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349240"/>
            <a:ext cx="384048" cy="38404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325880" y="5221224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virtuous loop: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model means fewer corrections, which means cheaper labeling, which means more data — which means an even better model.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11B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0" y="2743200"/>
            <a:ext cx="20116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napari Labeling App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GUI where the fine-tuned model meets the scientist.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LABELING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neurons-labeling: a napari plugin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6400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38528"/>
            <a:ext cx="457200" cy="4572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1168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810512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video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microscopy stack as a napari image layer.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752344"/>
            <a:ext cx="6400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999232"/>
            <a:ext cx="457200" cy="4572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0723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871216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 neuron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points or draw to seed a mask on one frame.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02920" y="3813048"/>
            <a:ext cx="6400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059936"/>
            <a:ext cx="457200" cy="4572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13308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931920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fine-tuned SAM 2 to track the neuron across frames.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02920" y="4873752"/>
            <a:ext cx="6400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EEF2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519379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992624"/>
            <a:ext cx="5349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export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masks in-place and export labels for training.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086600" y="1691640"/>
            <a:ext cx="4572000" cy="187452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7452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18120" y="1874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checkpoint loading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315200" y="233172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auto-detects the LoRA configuration from the checkpoint and applies both adapter passes (main + Hiera last-stage), so the GUI runs the exact fine-tuned model — no manual setup.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7086600" y="3749040"/>
            <a:ext cx="4572000" cy="2377440"/>
          </a:xfrm>
          <a:prstGeom prst="rect">
            <a:avLst/>
          </a:prstGeom>
          <a:solidFill>
            <a:srgbClr val="EEF2FB"/>
          </a:solidFill>
          <a:ln w="15875">
            <a:solidFill>
              <a:srgbClr val="22D3EE"/>
            </a:solidFill>
            <a:prstDash val="dash"/>
          </a:ln>
        </p:spPr>
      </p:sp>
      <p:sp>
        <p:nvSpPr>
          <p:cNvPr id="28" name="Text 21"/>
          <p:cNvSpPr/>
          <p:nvPr/>
        </p:nvSpPr>
        <p:spPr>
          <a:xfrm>
            <a:off x="7178040" y="4800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napari GUI with neuron masks ]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Labeling App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11B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0" y="2743200"/>
            <a:ext cx="20116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Fine-Tuned Model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math · the journey · why we beat base SAM 2.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 2 architecture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(Ravi et al., 2024) is a promptable video segmentation foundation model. Four modules turn a prompt on one frame into masks across a whole clip.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240280"/>
            <a:ext cx="2697480" cy="109728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32888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8952" y="315468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 image encoder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58952" y="361188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ViT. 1024×1024 frame → 64×64×256 feature map.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8952" y="4572000"/>
            <a:ext cx="15544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FROZEN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182112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3474720" y="2240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74720" y="2240280"/>
            <a:ext cx="2697480" cy="10972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532888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30752" y="315468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attention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730752" y="361188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the current frame on features &amp; masks from past frames.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730752" y="4572000"/>
            <a:ext cx="1554480" cy="292608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LoRA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153912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446520" y="2240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46520" y="2240280"/>
            <a:ext cx="2697480" cy="109728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532888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02552" y="315468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decoder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702552" y="361188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transformer that predicts the mask + an IoU score.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702552" y="4572000"/>
            <a:ext cx="1554480" cy="292608"/>
          </a:xfrm>
          <a:prstGeom prst="rect">
            <a:avLst/>
          </a:prstGeom>
          <a:solidFill>
            <a:srgbClr val="A855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LoRA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9125712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→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9418320" y="224028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418320" y="2240280"/>
            <a:ext cx="2697480" cy="109728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532888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674352" y="315468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encoder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9674352" y="3611880"/>
            <a:ext cx="218541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each prediction into a memory bank for future frames.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674352" y="4572000"/>
            <a:ext cx="1554480" cy="292608"/>
          </a:xfrm>
          <a:prstGeom prst="rect">
            <a:avLst/>
          </a:prstGeom>
          <a:solidFill>
            <a:srgbClr val="64748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FROZEN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02920" y="52120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strategy:  </a:t>
            </a:r>
            <a:pPr indent="0" marL="0">
              <a:buNone/>
            </a:pPr>
            <a:r>
              <a:rPr lang="en-US" sz="130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expensive pretrained encoders; inject small trainable LoRA adapters only where adaptation matters (decoder + memory attention).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use Meta's SAM 2?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SAM 2 was trained on natural video (people, cars, animals). It has never seen phase-contrast microscopy — so on neurons it fails in characteristic ways.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194560"/>
            <a:ext cx="5486400" cy="566928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28600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19456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SAM 2 on neurons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77240" y="2980944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8803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thin dendrites — captures only the bright cell body (soma).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3694176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59359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bleeds across weak, low-contrast edges into the background.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" y="4407408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30682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objects on noisy texture; unstable across frames.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5120640"/>
            <a:ext cx="109728" cy="109728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5020056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notion of connectivity — branches come out fragmented.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72200" y="219456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72200" y="2194560"/>
            <a:ext cx="5486400" cy="566928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286000"/>
            <a:ext cx="384048" cy="38404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858000" y="219456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fine-tuned model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446520" y="298094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1"/>
          <p:cNvSpPr/>
          <p:nvPr/>
        </p:nvSpPr>
        <p:spPr>
          <a:xfrm>
            <a:off x="6675120" y="288036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adapts features to microscopy while keeping pretrained knowledge.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46520" y="3694176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3"/>
          <p:cNvSpPr/>
          <p:nvPr/>
        </p:nvSpPr>
        <p:spPr>
          <a:xfrm>
            <a:off x="6675120" y="359359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cbDice loss preserves thin tubular branch structure.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446520" y="4407408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9" name="Text 25"/>
          <p:cNvSpPr/>
          <p:nvPr/>
        </p:nvSpPr>
        <p:spPr>
          <a:xfrm>
            <a:off x="6675120" y="430682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Supervoxel loss penalises fragmentation → connected masks.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446520" y="512064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1" name="Text 27"/>
          <p:cNvSpPr/>
          <p:nvPr/>
        </p:nvSpPr>
        <p:spPr>
          <a:xfrm>
            <a:off x="6675120" y="5020056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Dataset-specific normalization matches the microscopy intensity stats.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Foundations: what we build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4813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choice is grounded in published 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01168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2011680"/>
            <a:ext cx="91440" cy="7498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" y="2084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Ravi et al., 2024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8952" y="241401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Promptable video segmentation backbone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72200" y="201168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2011680"/>
            <a:ext cx="91440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5" name="Text 12"/>
          <p:cNvSpPr/>
          <p:nvPr/>
        </p:nvSpPr>
        <p:spPr>
          <a:xfrm>
            <a:off x="6428232" y="2084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Hu et al., ICLR 2022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28232" y="241401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parameter-efficient fine-tuning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283464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2834640"/>
            <a:ext cx="91440" cy="7498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6"/>
          <p:cNvSpPr/>
          <p:nvPr/>
        </p:nvSpPr>
        <p:spPr>
          <a:xfrm>
            <a:off x="758952" y="2907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LoRA+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Hayou et al., ICML 2024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58952" y="323697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A/B learning rates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72200" y="283464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2834640"/>
            <a:ext cx="91440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Text 20"/>
          <p:cNvSpPr/>
          <p:nvPr/>
        </p:nvSpPr>
        <p:spPr>
          <a:xfrm>
            <a:off x="6428232" y="2907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Ryali et al., ICML 2023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28232" y="323697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ViT image encoder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36576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2920" y="3657600"/>
            <a:ext cx="91440" cy="7498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4"/>
          <p:cNvSpPr/>
          <p:nvPr/>
        </p:nvSpPr>
        <p:spPr>
          <a:xfrm>
            <a:off x="758952" y="37307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Lin et al., ICCV 2017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58952" y="405993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Class-imbalance robust loss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72200" y="365760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172200" y="3657600"/>
            <a:ext cx="91440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1" name="Text 28"/>
          <p:cNvSpPr/>
          <p:nvPr/>
        </p:nvSpPr>
        <p:spPr>
          <a:xfrm>
            <a:off x="6428232" y="37307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clDice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Shit et al., CVPR 2021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28232" y="405993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 (skeleton) Dice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02920" y="448056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02920" y="4480560"/>
            <a:ext cx="91440" cy="7498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5" name="Text 32"/>
          <p:cNvSpPr/>
          <p:nvPr/>
        </p:nvSpPr>
        <p:spPr>
          <a:xfrm>
            <a:off x="758952" y="45537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cbDice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Shi et al., MICCAI 2024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58952" y="488289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Boundary-weighted topology loss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172200" y="448056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172200" y="4480560"/>
            <a:ext cx="91440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9" name="Text 36"/>
          <p:cNvSpPr/>
          <p:nvPr/>
        </p:nvSpPr>
        <p:spPr>
          <a:xfrm>
            <a:off x="6428232" y="45537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Loshchilov &amp; Hutter, 2019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428232" y="488289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weight-decay optimizer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02920" y="530352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502920" y="5303520"/>
            <a:ext cx="91440" cy="7498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40"/>
          <p:cNvSpPr/>
          <p:nvPr/>
        </p:nvSpPr>
        <p:spPr>
          <a:xfrm>
            <a:off x="758952" y="5376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Brown et al., NeurIPS 2020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758952" y="570585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+ cosine LR schedule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172200" y="5303520"/>
            <a:ext cx="5486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172200" y="5303520"/>
            <a:ext cx="91440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7" name="Text 44"/>
          <p:cNvSpPr/>
          <p:nvPr/>
        </p:nvSpPr>
        <p:spPr>
          <a:xfrm>
            <a:off x="6428232" y="53766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1–3</a:t>
            </a:r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Dao et al., 2022–24</a:t>
            </a:r>
            <a:endParaRPr lang="en-US" sz="1400" dirty="0"/>
          </a:p>
        </p:txBody>
      </p:sp>
      <p:sp>
        <p:nvSpPr>
          <p:cNvPr id="48" name="Text 45"/>
          <p:cNvSpPr/>
          <p:nvPr/>
        </p:nvSpPr>
        <p:spPr>
          <a:xfrm>
            <a:off x="6428232" y="5705856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IO-aware fast attention kernels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and LoRA+ : the core equations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45920"/>
            <a:ext cx="5532120" cy="420624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— low-rank adaptation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W₀; learn a low-rank update: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W₀ + ΔW = W₀ + (α / r) · B 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∈ ℝ</a:t>
            </a:r>
            <a:pPr indent="0" marL="0">
              <a:buNone/>
            </a:pPr>
            <a:r>
              <a:rPr lang="en-US" sz="900" baseline="30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r×k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(Kaiming init),   B ∈ ℝ</a:t>
            </a:r>
            <a:pPr indent="0" marL="0">
              <a:buNone/>
            </a:pPr>
            <a:r>
              <a:rPr lang="en-US" sz="900" baseline="30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d×r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(zero init)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657600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0 at init ⇒ ΔW = 0 ⇒ training starts exactly at the pretrained model.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25696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334256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 ≪ d, so we train only a tiny fraction of the weights.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102352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010912"/>
            <a:ext cx="4800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/ r is a fixed scaling that decouples update size from rank.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45920"/>
            <a:ext cx="5486400" cy="420624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LoRA+ — asymmetric learning rates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B starts at zero and A does not, they need different learning rates: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2788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lr_B = λ · lr_A ,    λ = 16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492240" y="3566160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34747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Hayou et al. (ICML 2024) prove a higher LR on B gives feature-learning-optimal updates.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279392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18795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lr_A = 1e-4 and lr_B = 1.6e-3; non-LoRA params train at 1e-5.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4992624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490118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faster, more stable convergence than a single shared LoRA LR.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Dual-rank LoRA: where we adapt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6400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109728" cy="1965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74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LoRA — rank 16, α = 32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linear layers across the mask decoder + memory attention. This is where promptable segmentation is re-shaped for neurons. Dropout 0.10.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6400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794760"/>
            <a:ext cx="109728" cy="20574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977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 last-stage LoRA — rank 8, α = 16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38912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adapter pass on the last 2 blocks (10–11) of the frozen Hiera trunk — the deepest, 768-dim features. Lets the visual representation itself adapt to microscopy without unfreezing the encoder. Smaller rank because high-dim layers give more capacity per rank unit (α/r = 2 kept constant).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86600" y="1691640"/>
            <a:ext cx="4572000" cy="416052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2011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TRAINABLE PARAMETERS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86600" y="23774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13.9%</a:t>
            </a:r>
            <a:endParaRPr lang="en-US" sz="8000" dirty="0"/>
          </a:p>
        </p:txBody>
      </p:sp>
      <p:sp>
        <p:nvSpPr>
          <p:cNvPr id="18" name="Text 16"/>
          <p:cNvSpPr/>
          <p:nvPr/>
        </p:nvSpPr>
        <p:spPr>
          <a:xfrm>
            <a:off x="708660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5,557,250  of  39,876,930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0" y="4114800"/>
            <a:ext cx="3200400" cy="0"/>
          </a:xfrm>
          <a:prstGeom prst="line">
            <a:avLst/>
          </a:prstGeom>
          <a:noFill/>
          <a:ln w="12700">
            <a:solidFill>
              <a:srgbClr val="111B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297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~14% of the model, keep 86% of Meta's pretrained knowledge frozen. That is what makes fine-tuning feasible on ~20 videos without overfitting.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topology-aware loss recipe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8132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mask losses care about area overlap — they ignore whether a thin branch stays connected. We add skeleton- and connectivity-aware terms.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1155680" cy="502920"/>
          </a:xfrm>
          <a:prstGeom prst="rect">
            <a:avLst/>
          </a:prstGeom>
          <a:solidFill>
            <a:srgbClr val="EEF2F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= 5·ℒ_focal + 2·ℒ_Dice + 5·ℒ_cbDice + 0.3·ℒ_supervoxel + 1·ℒ_IoU + 1·ℒ_class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6974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697480"/>
            <a:ext cx="3611880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62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2880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w=5.0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3192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classification robust to fg/bg imbalance.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26974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15968" y="2697480"/>
            <a:ext cx="3611880" cy="91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4544568" y="2862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01968" y="2880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w=2.0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44568" y="33192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Region-level overlap of mask vs. ground truth.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29016" y="26974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29016" y="2697480"/>
            <a:ext cx="361188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8620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15016" y="2880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w=5.0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57616" y="33192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Centerline-boundary Dice — preserves skeleton topology.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2976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297680"/>
            <a:ext cx="3611880" cy="9144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622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Supervoxel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788920" y="4480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w=0.3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9194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fragmentation; keeps branches connected.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15968" y="42976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15968" y="4297680"/>
            <a:ext cx="361188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1" name="Text 29"/>
          <p:cNvSpPr/>
          <p:nvPr/>
        </p:nvSpPr>
        <p:spPr>
          <a:xfrm>
            <a:off x="4544568" y="44622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pred.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01968" y="4480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w=1.0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44568" y="49194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 the decoder's self-estimated quality score.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29016" y="429768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29016" y="4297680"/>
            <a:ext cx="3611880" cy="914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8357616" y="446227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15016" y="4480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w=1.0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357616" y="4919472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Object-presence term; suppresses hallucinated masks.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57150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cbDice math (sketch):  </a:t>
            </a:r>
            <a:pPr indent="0" marL="0">
              <a:buNone/>
            </a:pPr>
            <a:r>
              <a:rPr lang="en-US" sz="11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soft-skeletonise the mask, then score skeleton overlap weighted by a Euclidean distance transform — thin structures count more. Topology losses computed at 256×256 (16× faster than 1024, negligible quality loss).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Pixel &amp; region losses: Focal + Dice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5532120" cy="416052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— class imbalance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2514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FL(pₜ) = − α (1 − pₜ)^γ · log(pₜ)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7724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= 0.25 ,   γ = 2.0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22960" y="3520440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4290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pₜ is the predicted probability of the true class for each pixel.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4251960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160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(1 − pₜ)^γ term down-weights easy, well-classified background pixels.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4983480"/>
            <a:ext cx="100584" cy="10058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489204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learning capacity onto the rare, hard foreground — the thin neuron pixels that dominate the error.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1691640"/>
            <a:ext cx="5486400" cy="416052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411480" cy="41148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949440" y="19202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loss — region overlap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46520" y="251460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Dice = 1 − (2 Σ p·g + ε) / (Σ p + Σ g + ε)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446520" y="2971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σ(logits) ,   g = ground-truth mask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492240" y="3520440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4" name="Text 20"/>
          <p:cNvSpPr/>
          <p:nvPr/>
        </p:nvSpPr>
        <p:spPr>
          <a:xfrm>
            <a:off x="6720840" y="3429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soft, differentiable F1 over the pixel set — directly maximises overlap.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92240" y="4251960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6" name="Text 22"/>
          <p:cNvSpPr/>
          <p:nvPr/>
        </p:nvSpPr>
        <p:spPr>
          <a:xfrm>
            <a:off x="6720840" y="41605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Scale-invariant: insensitive to the foreground/background ratio, so it stays informative on tiny masks.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492240" y="4983480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8" name="Text 24"/>
          <p:cNvSpPr/>
          <p:nvPr/>
        </p:nvSpPr>
        <p:spPr>
          <a:xfrm>
            <a:off x="6720840" y="4892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focal: focal is per-pixel pointwise, Dice is a set-level overlap objective.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Topology losses: cbDice &amp; supervoxel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terms that make a neuron model — they care about connectivity, not just area.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532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011680"/>
            <a:ext cx="109728" cy="38404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cbDice  (clDice + boundary weighting)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clDice = 2·Tprec·Tsens / (Tprec + Tsens)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3008376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Soft-skeletonise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min/max pooling (5 iters) gives a differentiable centerline of mask and GT.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785616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368503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Tprec / Tsens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skeleton-in-mask and skeleton-in-GT overlaps → a topology precision &amp; sensitivity.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462272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4361688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 weighting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Euclidean distance transform up-weights thin tubular structures (cbDice over clDice).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138928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5038344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1-px gap in a dendrite barely moves Dice but snaps the skeleton — cbDice punishes it.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2011680"/>
            <a:ext cx="5486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2011680"/>
            <a:ext cx="109728" cy="3840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Supervoxel  (connectivity preservation)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compares connected-component structure of pred vs. GT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3108960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6748272" y="300837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fragmentation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that clDice tolerates still splits a component — supervoxel sees it.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3785616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368503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weight (0.3)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structural prior, not a dominant term — it nudges toward single connected masks.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4462272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748272" y="436168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256² resolution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analysis is run at low res: 16× cheaper than 1024², minimal quality loss.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92240" y="5138928"/>
            <a:ext cx="109728" cy="1097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6748272" y="503834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 —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 videos it plateaus (~0.05 val) — a data-bound ceiling, not a tuning failure.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loop,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8132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= one batch of 8-frame clips. The model is prompted on frame 0, then must propagate — so it learns genuine tracking, not per-frame segmentation.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486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" y="2121408"/>
            <a:ext cx="457200" cy="45720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993392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 clip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with clip_stride = 4 over the video's time axis (~17 clips/video).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72200" y="1874520"/>
            <a:ext cx="5486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9944" y="2121408"/>
            <a:ext cx="457200" cy="45720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9944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0880" y="1993392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once per clip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spatial + intensity transform applied identically to all 8 frames → temporal consistency; fresh each epoch.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2935224"/>
            <a:ext cx="5486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0664" y="3182112"/>
            <a:ext cx="457200" cy="45720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054096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on frame 0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num_init_cond_frames = 1: seed the GT mask as a prompt on the first frame only.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2935224"/>
            <a:ext cx="5486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9944" y="3182112"/>
            <a:ext cx="457200" cy="45720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054096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(Path B)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track_step runs memory-attention over the memory bank → mask decoder predicts each later frame; memory encoder writes each result back.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02920" y="3995928"/>
            <a:ext cx="5486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0664" y="4242816"/>
            <a:ext cx="457200" cy="45720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1148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teacher forcing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prob_to_use_pt_input = 0: frames 1–7 use the model's own predictions — it must recover from its own errors.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72200" y="3995928"/>
            <a:ext cx="54864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9944" y="4242816"/>
            <a:ext cx="457200" cy="457200"/>
          </a:xfrm>
          <a:prstGeom prst="ellipse">
            <a:avLst/>
          </a:prstGeom>
          <a:solidFill>
            <a:srgbClr val="0A123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9944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40880" y="4114800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multi-frame loss</a:t>
            </a:r>
            <a:endParaRPr lang="en-US" sz="13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loss terms summed over all frames &amp; objects in the clip.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02920" y="5056632"/>
            <a:ext cx="11155680" cy="950976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" y="5303520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17320" y="51663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&amp; update 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autocast forward → backward → clip grad-norm to 1.0 → fused AdamW step (LoRA+ param groups) → LR scheduler step.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Regularization: 5.5M params, only 20 videos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is the central risk of fine-tuning on tiny data. Seven overlapping mechanisms keep the model honest.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920240"/>
            <a:ext cx="3611880" cy="7315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139696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52728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constraint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" y="2578608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 lives in a rank-16 subspace — LoRA itself is a strong structural prior on what can change.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15968" y="192024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5968" y="1920240"/>
            <a:ext cx="3611880" cy="73152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13969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65776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backbone (86%)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53712" y="2578608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features can't drift; only the small adapters move, preserving general knowledge.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129016" y="1920240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29016" y="1920240"/>
            <a:ext cx="3611880" cy="7315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39696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78824" y="2103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0.10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366760" y="2578608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inside the LoRA adapters to prevent co-adaptation of the learned directions.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02920" y="3392424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3392424"/>
            <a:ext cx="3611880" cy="73152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61188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52728" y="357530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weight decay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40664" y="405079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weight decay 0.05 + grad-norm clipping at 1.0 keep updates small and stable.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315968" y="3392424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15968" y="3392424"/>
            <a:ext cx="3611880" cy="7315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361188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65776" y="357530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 (2)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53712" y="405079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Noisier gradient estimates act as implicit regularization, biasing toward flatter minima.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8129016" y="3392424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129016" y="3392424"/>
            <a:ext cx="3611880" cy="73152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611880"/>
            <a:ext cx="384048" cy="38404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878824" y="357530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augmentation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8366760" y="4050792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Flips, ±25° rotation, ±20° shear, scaling, brightness/contrast, blur, noise, elastic — fresh per epoch, effectively enlarging the dataset.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502920" y="4864608"/>
            <a:ext cx="3611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502920" y="4864608"/>
            <a:ext cx="3611880" cy="73152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084064"/>
            <a:ext cx="384048" cy="38404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252728" y="50474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+ early stopping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740664" y="5522976"/>
            <a:ext cx="317296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2-epoch warmup + cosine-to-5% anneal; training halts on stalled validation IoU.</a:t>
            </a:r>
            <a:endParaRPr lang="en-US" sz="950" dirty="0"/>
          </a:p>
        </p:txBody>
      </p:sp>
      <p:sp>
        <p:nvSpPr>
          <p:cNvPr id="43" name="Text 34"/>
          <p:cNvSpPr/>
          <p:nvPr/>
        </p:nvSpPr>
        <p:spPr>
          <a:xfrm>
            <a:off x="4315968" y="4864608"/>
            <a:ext cx="7360920" cy="1325880"/>
          </a:xfrm>
          <a:prstGeom prst="rect">
            <a:avLst/>
          </a:prstGeom>
          <a:solidFill>
            <a:srgbClr val="EEF2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 </a:t>
            </a:r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high-capacity model that behaves like a small one — the reason 13.9% trainable params generalise from 20 videos.</a:t>
            </a:r>
            <a:endParaRPr lang="en-US" sz="1250" dirty="0"/>
          </a:p>
        </p:txBody>
      </p:sp>
      <p:sp>
        <p:nvSpPr>
          <p:cNvPr id="44" name="Text 3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&amp; systems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55321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Learning-rate schedule (GPT-3 style)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4114800"/>
            <a:ext cx="4754880" cy="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4114800"/>
            <a:ext cx="570586" cy="-1371600"/>
          </a:xfrm>
          <a:prstGeom prst="line">
            <a:avLst/>
          </a:prstGeom>
          <a:noFill/>
          <a:ln w="31750">
            <a:solidFill>
              <a:srgbClr val="22D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39266" y="2743200"/>
            <a:ext cx="418429" cy="31887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57695" y="2775087"/>
            <a:ext cx="418429" cy="9254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76124" y="2867627"/>
            <a:ext cx="418429" cy="144135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4554" y="3011762"/>
            <a:ext cx="418429" cy="18162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12983" y="3193382"/>
            <a:ext cx="418429" cy="201328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31413" y="3394710"/>
            <a:ext cx="418429" cy="201328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949842" y="3596038"/>
            <a:ext cx="418429" cy="18162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68272" y="3777658"/>
            <a:ext cx="418429" cy="144135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86701" y="3921793"/>
            <a:ext cx="418429" cy="92540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05131" y="4014333"/>
            <a:ext cx="418429" cy="31887"/>
          </a:xfrm>
          <a:prstGeom prst="line">
            <a:avLst/>
          </a:prstGeom>
          <a:noFill/>
          <a:ln w="31750">
            <a:solidFill>
              <a:srgbClr val="A855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" y="4160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148840" y="41605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decay → 5% floor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22960" y="4434840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5" name="Text 22"/>
          <p:cNvSpPr/>
          <p:nvPr/>
        </p:nvSpPr>
        <p:spPr>
          <a:xfrm>
            <a:off x="1051560" y="4343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2-epoch linear warmup (lets zero-init B leave the sharp region).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22960" y="4937760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4"/>
          <p:cNvSpPr/>
          <p:nvPr/>
        </p:nvSpPr>
        <p:spPr>
          <a:xfrm>
            <a:off x="1051560" y="4846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decay over 90 epochs to a 5% LR floor (min_lr_ratio = 0.05).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22960" y="5440680"/>
            <a:ext cx="100584" cy="10058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9" name="Text 26"/>
          <p:cNvSpPr/>
          <p:nvPr/>
        </p:nvSpPr>
        <p:spPr>
          <a:xfrm>
            <a:off x="1051560" y="5349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gave a real late gain: 0.8397 @ ep58 → 0.8401 @ ep88.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172200" y="1691640"/>
            <a:ext cx="5486400" cy="416052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457200" cy="4572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99516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B200 GPU engineering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6492240" y="267004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4" name="Text 30"/>
          <p:cNvSpPr/>
          <p:nvPr/>
        </p:nvSpPr>
        <p:spPr>
          <a:xfrm>
            <a:off x="6720840" y="256946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mixed precision (no GradScaler needed)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492240" y="307238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6" name="Text 32"/>
          <p:cNvSpPr/>
          <p:nvPr/>
        </p:nvSpPr>
        <p:spPr>
          <a:xfrm>
            <a:off x="6720840" y="2971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channels-last memory format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492240" y="347472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8" name="Text 34"/>
          <p:cNvSpPr/>
          <p:nvPr/>
        </p:nvSpPr>
        <p:spPr>
          <a:xfrm>
            <a:off x="6720840" y="33741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FlashAttention-3 via cuDNN SDPA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492240" y="3877056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0" name="Text 36"/>
          <p:cNvSpPr/>
          <p:nvPr/>
        </p:nvSpPr>
        <p:spPr>
          <a:xfrm>
            <a:off x="6720840" y="37764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AdamW optimizer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6492240" y="427939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2" name="Text 38"/>
          <p:cNvSpPr/>
          <p:nvPr/>
        </p:nvSpPr>
        <p:spPr>
          <a:xfrm>
            <a:off x="6720840" y="41788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memory + deferred .item() GPU syncs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492240" y="468172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4" name="Text 40"/>
          <p:cNvSpPr/>
          <p:nvPr/>
        </p:nvSpPr>
        <p:spPr>
          <a:xfrm>
            <a:off x="6720840" y="458114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CPU distance transforms for cbDice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6492240" y="508406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6" name="Text 42"/>
          <p:cNvSpPr/>
          <p:nvPr/>
        </p:nvSpPr>
        <p:spPr>
          <a:xfrm>
            <a:off x="6720840" y="4983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memory-attention path (Path B) for true gradient flow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6492240" y="548640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8" name="Text 44"/>
          <p:cNvSpPr/>
          <p:nvPr/>
        </p:nvSpPr>
        <p:spPr>
          <a:xfrm>
            <a:off x="6720840" y="538581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from train_state.pt to chain 4-hour SLURM jobs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Previous tries: a run-by-run history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8778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206240"/>
                <a:gridCol w="1554480"/>
                <a:gridCol w="9144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IoU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2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recipe (rank 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Over-regularised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back reg, cbDice↑, sv 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swap + warmup 2 + 5% floor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 B + obj-score fix + rank 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≈0.8295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Hiera last-stage LoRA (r8)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≈0.8295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+ 20 videos, 90 ep, 5-vid 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/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509760" y="1737360"/>
            <a:ext cx="2148840" cy="352044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149840" y="1920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&amp; reverted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738360" y="2423160"/>
            <a:ext cx="1783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8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Pumped topology weights → 0.8229. Supervoxel hit a structural ceiling.
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9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res 256→384 → 0.8346. Helped but 2.5× slower, still lost.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553212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</a:t>
            </a:r>
            <a:pPr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20 videos, loss / schedule tuning is saturated. More data — not more loss engineering — is the next lever.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7 — the shipping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8308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783080"/>
            <a:ext cx="3611880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249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facebook/sam2.1-hiera-tiny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1272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383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Dual-rank LoRA (16 / 8)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7856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0416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5.56M / 39.88M  (13.9%)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4439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7000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B (memory attention)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15968" y="178308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15968" y="1783080"/>
            <a:ext cx="3611880" cy="5029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44568" y="17830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44568" y="24688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lr_A / lr_B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44568" y="27249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1e-4 / 1.6e-3  (λ=16)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4568" y="31272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3383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1e-5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44568" y="37856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44568" y="40416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44439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44568" y="47000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29016" y="178308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29016" y="1783080"/>
            <a:ext cx="3611880" cy="502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17830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 &amp; DATA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57616" y="24688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57616" y="272491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(warmup 2)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57616" y="312724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floor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357616" y="33832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 (cosine)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57616" y="3785616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/ frames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357616" y="4041648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/  8 per clip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57616" y="444398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val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57616" y="47000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videos / 5 held out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5257800"/>
            <a:ext cx="11155680" cy="640080"/>
          </a:xfrm>
          <a:prstGeom prst="rect">
            <a:avLst/>
          </a:prstGeom>
          <a:solidFill>
            <a:srgbClr val="EEF2FB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weights:  </a:t>
            </a:r>
            <a:pPr algn="l"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5 · Dice 2 · cbDice 5 · supervoxel 0.3 · IoU 1 · class 1     </a:t>
            </a:r>
            <a:pPr algn="l"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 </a:t>
            </a:r>
            <a:pPr algn="l" indent="0" marL="0">
              <a:buNone/>
            </a:pPr>
            <a:r>
              <a:rPr lang="en-US" sz="1250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pixel-level (flips, ±25° rot, ±20% shear, brightness/contrast), fresh per epoch.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Setup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7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3611880" cy="173736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830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0.8401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IoU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@ epoch 88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1691640"/>
            <a:ext cx="3611880" cy="173736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15968" y="17830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0.9117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4315968" y="2697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5968" y="30175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overlap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29016" y="1691640"/>
            <a:ext cx="3611880" cy="173736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129016" y="178308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+0.145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8129016" y="269748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vs. baseline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9016" y="30175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0.6951 (Run 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657600"/>
            <a:ext cx="66751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IoU across runs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5425440"/>
            <a:ext cx="5806440" cy="0"/>
          </a:xfrm>
          <a:prstGeom prst="line">
            <a:avLst/>
          </a:prstGeom>
          <a:noFill/>
          <a:ln w="9525">
            <a:solidFill>
              <a:srgbClr val="D8E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53157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1560" y="5044440"/>
            <a:ext cx="5806440" cy="0"/>
          </a:xfrm>
          <a:prstGeom prst="line">
            <a:avLst/>
          </a:prstGeom>
          <a:noFill/>
          <a:ln w="9525">
            <a:solidFill>
              <a:srgbClr val="D8E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49347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51560" y="4663440"/>
            <a:ext cx="5806440" cy="0"/>
          </a:xfrm>
          <a:prstGeom prst="line">
            <a:avLst/>
          </a:prstGeom>
          <a:noFill/>
          <a:ln w="9525">
            <a:solidFill>
              <a:srgbClr val="D8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45537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1560" y="4282440"/>
            <a:ext cx="5806440" cy="0"/>
          </a:xfrm>
          <a:prstGeom prst="line">
            <a:avLst/>
          </a:prstGeom>
          <a:noFill/>
          <a:ln w="9525">
            <a:solidFill>
              <a:srgbClr val="D8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41727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V="1">
            <a:off x="1051560" y="5259324"/>
            <a:ext cx="967740" cy="203454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019300" y="5068824"/>
            <a:ext cx="967740" cy="19050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2987040" y="4850130"/>
            <a:ext cx="967740" cy="218694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954780" y="4438650"/>
            <a:ext cx="967740" cy="41148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22520" y="4438650"/>
            <a:ext cx="967740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5890260" y="4357878"/>
            <a:ext cx="967740" cy="80772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" y="5398770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8613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55292" y="51953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44980" y="58613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3032" y="5004816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12720" y="58613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90772" y="478612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80460" y="58613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58512" y="437464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48200" y="58613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26252" y="4374642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15940" y="58613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93992" y="4293870"/>
            <a:ext cx="128016" cy="12801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58613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360920" y="3657600"/>
            <a:ext cx="4297680" cy="260604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758952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behind the number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635240" y="4261104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40" y="416966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Per-video IoU is uniform — no single video lags.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635240" y="473659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4" name="Text 52"/>
          <p:cNvSpPr/>
          <p:nvPr/>
        </p:nvSpPr>
        <p:spPr>
          <a:xfrm>
            <a:off x="7863840" y="4645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IoU breakdown tracks quality over time.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635240" y="5212080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6" name="Text 54"/>
          <p:cNvSpPr/>
          <p:nvPr/>
        </p:nvSpPr>
        <p:spPr>
          <a:xfrm>
            <a:off x="7863840" y="5120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Worst-IoU PNG dumps expose hard cases each epoch.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635240" y="5687568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8" name="Text 56"/>
          <p:cNvSpPr/>
          <p:nvPr/>
        </p:nvSpPr>
        <p:spPr>
          <a:xfrm>
            <a:off x="7863840" y="55961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branches much sharper than base SAM 2.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&amp; how we beat base SAM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3736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57400"/>
            <a:ext cx="731520" cy="731520"/>
          </a:xfrm>
          <a:prstGeom prst="ellipse">
            <a:avLst/>
          </a:prstGeom>
          <a:solidFill>
            <a:srgbClr val="0A123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21992"/>
            <a:ext cx="402336" cy="4023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37360" y="2084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Adapt, don't forget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737360" y="26974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re-shapes the model for microscopy while 86% of pretrained weights stay frozen — strong features without catastrophic forgetting on a tiny dataset.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73736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057400"/>
            <a:ext cx="731520" cy="731520"/>
          </a:xfrm>
          <a:prstGeom prst="ellipse">
            <a:avLst/>
          </a:prstGeom>
          <a:solidFill>
            <a:srgbClr val="0A123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222199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06640" y="2084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learning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406640" y="26974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cbDice (skeleton) + supervoxel (connectivity) losses target the exact failure mode of base SAM 2: broken, fragmented thin branches.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02920" y="397764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7240" y="4297680"/>
            <a:ext cx="731520" cy="731520"/>
          </a:xfrm>
          <a:prstGeom prst="ellipse">
            <a:avLst/>
          </a:prstGeom>
          <a:solidFill>
            <a:srgbClr val="0A123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46227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37360" y="432511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temporal modelling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737360" y="4937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trains the memory-attention adapters with true gradient flow, so the model genuinely tracks neurons frame-to-frame.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172200" y="3977640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4297680"/>
            <a:ext cx="731520" cy="731520"/>
          </a:xfrm>
          <a:prstGeom prst="ellipse">
            <a:avLst/>
          </a:prstGeom>
          <a:solidFill>
            <a:srgbClr val="0A123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46227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432511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Domain-matched inputs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7406640" y="49377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Dataset-specific normalization + microscopy augmentations align the input distribution with the real data — base SAM 2 never saw any of this.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182880"/>
            <a:ext cx="4572000" cy="640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11B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0" y="2743200"/>
            <a:ext cx="20116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3504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Stages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goes from here.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 ahead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38967" y="585216"/>
            <a:ext cx="182880" cy="18288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259007" y="585216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6" name="Shape 4"/>
          <p:cNvSpPr/>
          <p:nvPr/>
        </p:nvSpPr>
        <p:spPr>
          <a:xfrm>
            <a:off x="11579047" y="585216"/>
            <a:ext cx="182880" cy="18288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691640"/>
            <a:ext cx="11155680" cy="1234440"/>
          </a:xfrm>
          <a:prstGeom prst="rect">
            <a:avLst/>
          </a:prstGeom>
          <a:solidFill>
            <a:srgbClr val="0A1230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594360" cy="594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78308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#1 — more annotated data.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8 &amp; 9 proved loss tuning is saturated at 20 videos. Growing the dataset is the single highest-leverage next step, powered by the labeling loop.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31546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3154680"/>
            <a:ext cx="91440" cy="14630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472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383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to ~30+ videos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417320" y="381304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hard cases surfaced by the worst-IoU dumps; keep the 5 val videos fixed for comparable numbers.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72200" y="315468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3154680"/>
            <a:ext cx="91440" cy="146304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4472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3383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topology losses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086600" y="381304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~30 videos, re-test the supervoxel weight and higher topology resolution — the structural ceiling may lift with more signal.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4782312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02920" y="4782312"/>
            <a:ext cx="91440" cy="14630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749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50109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the labeling app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417320" y="54406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propagation and smoother correction UX to shrink the cost per labeled video.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172200" y="4782312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sx="100000" sy="100000" kx="0" ky="0" algn="bl" rotWithShape="0" blurRad="114300" dist="38100" dir="5400000">
              <a:srgbClr val="0A1230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172200" y="4782312"/>
            <a:ext cx="91440" cy="1463040"/>
          </a:xfrm>
          <a:prstGeom prst="rect">
            <a:avLst/>
          </a:prstGeom>
          <a:solidFill>
            <a:srgbClr val="A855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50749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86600" y="501091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evaluation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7086600" y="54406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per-video / per-frame diagnostics and report variance across val splits, not just a single headline IoU.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· Neuron Segmentation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031175" y="6473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Stages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7724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" y="667512"/>
            <a:ext cx="365760" cy="365760"/>
          </a:xfrm>
          <a:prstGeom prst="ellipse">
            <a:avLst/>
          </a:prstGeom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1325880"/>
            <a:ext cx="146304" cy="146304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5" name="Shape 3"/>
          <p:cNvSpPr/>
          <p:nvPr/>
        </p:nvSpPr>
        <p:spPr>
          <a:xfrm>
            <a:off x="1856232" y="1216152"/>
            <a:ext cx="365760" cy="365760"/>
          </a:xfrm>
          <a:prstGeom prst="ellipse">
            <a:avLst/>
          </a:prstGeom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920240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" y="1810512"/>
            <a:ext cx="365760" cy="365760"/>
          </a:xfrm>
          <a:prstGeom prst="ellipse">
            <a:avLst/>
          </a:prstGeom>
          <a:ln w="12700">
            <a:solidFill>
              <a:srgbClr val="2DD4B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SAM 2 turns a general video model into a specialist neuron segmenter — and the labeling loop will keep making it better.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" y="4526280"/>
            <a:ext cx="365760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4663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 Oizerovich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— validation IoU 0.8401 · Dice 0.9117  · 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Fine-Tuning SAM 2 for Neuron Segmentation</dc:title>
  <dc:subject>PptxGenJS Presentation</dc:subject>
  <dc:creator>Adi Oizerovich</dc:creator>
  <cp:lastModifiedBy>Adi Oizerovich</cp:lastModifiedBy>
  <cp:revision>1</cp:revision>
  <dcterms:created xsi:type="dcterms:W3CDTF">2026-06-05T14:36:25Z</dcterms:created>
  <dcterms:modified xsi:type="dcterms:W3CDTF">2026-06-05T14:36:25Z</dcterms:modified>
</cp:coreProperties>
</file>